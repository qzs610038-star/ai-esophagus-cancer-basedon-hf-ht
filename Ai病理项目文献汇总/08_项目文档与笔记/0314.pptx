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"/>
  </p:notesMasterIdLst>
  <p:sldIdLst>
    <p:sldId id="266" r:id="rId2"/>
    <p:sldId id="271" r:id="rId3"/>
    <p:sldId id="272" r:id="rId4"/>
    <p:sldId id="273" r:id="rId5"/>
    <p:sldId id="274" r:id="rId6"/>
  </p:sldIdLst>
  <p:sldSz cx="18288000" cy="10287000"/>
  <p:notesSz cx="6858000" cy="9144000"/>
  <p:embeddedFontLst>
    <p:embeddedFont>
      <p:font typeface="等线" panose="02010600030101010101" pitchFamily="2" charset="-122"/>
      <p:regular r:id="rId8"/>
      <p:bold r:id="rId9"/>
    </p:embeddedFont>
    <p:embeddedFont>
      <p:font typeface="微软雅黑" panose="020B0503020204020204" pitchFamily="34" charset="-122"/>
      <p:regular r:id="rId10"/>
      <p:bold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8">
          <p15:clr>
            <a:srgbClr val="A4A3A4"/>
          </p15:clr>
        </p15:guide>
        <p15:guide id="2" pos="288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子 于" initials="子于" lastIdx="1" clrIdx="0">
    <p:extLst>
      <p:ext uri="{19B8F6BF-5375-455C-9EA6-DF929625EA0E}">
        <p15:presenceInfo xmlns:p15="http://schemas.microsoft.com/office/powerpoint/2012/main" userId="b336bb72724efbb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93AB"/>
    <a:srgbClr val="87766B"/>
    <a:srgbClr val="9292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84914" autoAdjust="0"/>
  </p:normalViewPr>
  <p:slideViewPr>
    <p:cSldViewPr>
      <p:cViewPr varScale="1">
        <p:scale>
          <a:sx n="52" d="100"/>
          <a:sy n="52" d="100"/>
        </p:scale>
        <p:origin x="618" y="36"/>
      </p:cViewPr>
      <p:guideLst>
        <p:guide orient="horz" pos="2128"/>
        <p:guide pos="288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81D406-A2EE-4B88-A52E-9E491FA81685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76305C-DEE3-4E1C-8566-F2E50CDEF2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9915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069D5-FB41-7BC3-BAEA-D780CB24A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C3FA6DB-C31E-6AFE-9501-456E429BA2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D9B1037-FAA8-152B-654F-45D603B97F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Computer Vision Methods for Spatial Transcriptomics: A Survey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969C18-69A6-D56A-C5D4-F10BF0AE56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76305C-DEE3-4E1C-8566-F2E50CDEF2D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00111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0DD4A-9EE6-A43C-A2FC-5D6A64DF1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32B9C78-BCF3-24DB-A95C-621618BD52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5828EDF-4C06-A14E-2C22-EA59BDE637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DC2290-8C9C-6CA8-0A52-B2A7949BA2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76305C-DEE3-4E1C-8566-F2E50CDEF2D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7165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F0A31-BA1D-7BAE-ED00-F6F94B9DE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A5079EA-F9FA-E7E1-895D-D8947F655F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D387D06-648C-060F-0B34-B82BE7764D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BD443A-ACE0-AD60-1E79-1955A79113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76305C-DEE3-4E1C-8566-F2E50CDEF2D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8144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490F3-8FCB-8456-B0B0-40812B3F9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8427EB0-425F-5824-DF3C-07781F6289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A0516C5-B39E-DAC5-6205-F18F5FCD60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预处理：对数变换；归一化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对数变换。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验证策略：采用切片级（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slide-level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）划分进行交叉验证，将同一样本的不同切片视为独立的训练与验证单元；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Leave-One-Section-Out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保留一个切片作为验证集，其余切片用于训练；样本级（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sample-level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）划分，确保同一样本的所有切片仅出现在训练集或验证集中的一方。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基因选择：高表达基因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HEG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；高变异基因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HVG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922593-D9D3-E908-2484-37A48A005D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76305C-DEE3-4E1C-8566-F2E50CDEF2D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7368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3EE82-2E8C-CF4D-F9E9-EB93F61E0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D9CC713-4E7E-6898-C969-B6D5D7F453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3C43243-1F97-9F52-4330-82EDB8E55D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2013D2-5F89-4673-46AD-AC0CC0BB98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76305C-DEE3-4E1C-8566-F2E50CDEF2D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9052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3E60B-F054-C372-A51A-F8FB5AF07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1A357D1F-D7BE-C24A-5543-D6F1476A40F4}"/>
              </a:ext>
            </a:extLst>
          </p:cNvPr>
          <p:cNvSpPr txBox="1"/>
          <p:nvPr/>
        </p:nvSpPr>
        <p:spPr>
          <a:xfrm>
            <a:off x="1028700" y="95741"/>
            <a:ext cx="5753100" cy="1166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640"/>
              </a:lnSpc>
              <a:spcBef>
                <a:spcPct val="0"/>
              </a:spcBef>
            </a:pPr>
            <a:r>
              <a:rPr lang="zh-CN" altLang="en-US" sz="4000" b="1" dirty="0">
                <a:solidFill>
                  <a:srgbClr val="7E93AB"/>
                </a:solidFill>
                <a:latin typeface="微软雅黑" panose="020B0503020204020204" charset="-122"/>
                <a:ea typeface="微软雅黑" panose="020B0503020204020204" charset="-122"/>
              </a:rPr>
              <a:t>预测空间基因表达</a:t>
            </a:r>
            <a:endParaRPr lang="en-US" sz="4000" b="1" dirty="0">
              <a:solidFill>
                <a:srgbClr val="7E93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F9D4477-E290-84FC-3131-9161EA7172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2500"/>
          <a:stretch>
            <a:fillRect/>
          </a:stretch>
        </p:blipFill>
        <p:spPr>
          <a:xfrm>
            <a:off x="6019800" y="281928"/>
            <a:ext cx="9067800" cy="9723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299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98F0D-D3A2-9F82-54B7-24DF4AFAE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CBEC94A6-A091-5F71-0586-B1B496AB8519}"/>
              </a:ext>
            </a:extLst>
          </p:cNvPr>
          <p:cNvSpPr txBox="1"/>
          <p:nvPr/>
        </p:nvSpPr>
        <p:spPr>
          <a:xfrm>
            <a:off x="1028700" y="95741"/>
            <a:ext cx="5753100" cy="1166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640"/>
              </a:lnSpc>
              <a:spcBef>
                <a:spcPct val="0"/>
              </a:spcBef>
            </a:pPr>
            <a:r>
              <a:rPr lang="zh-CN" altLang="en-US" sz="4000" b="1" dirty="0">
                <a:solidFill>
                  <a:srgbClr val="7E93AB"/>
                </a:solidFill>
                <a:latin typeface="微软雅黑" panose="020B0503020204020204" charset="-122"/>
                <a:ea typeface="微软雅黑" panose="020B0503020204020204" charset="-122"/>
              </a:rPr>
              <a:t>预测空间基因表达</a:t>
            </a:r>
            <a:endParaRPr lang="en-US" sz="4000" b="1" dirty="0">
              <a:solidFill>
                <a:srgbClr val="7E93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D2EEA147-B7D4-57E3-16AC-F8FCCA1905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006352"/>
              </p:ext>
            </p:extLst>
          </p:nvPr>
        </p:nvGraphicFramePr>
        <p:xfrm>
          <a:off x="533400" y="1409700"/>
          <a:ext cx="17221200" cy="82674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91586864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4029183027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1679638704"/>
                    </a:ext>
                  </a:extLst>
                </a:gridCol>
                <a:gridCol w="8915400">
                  <a:extLst>
                    <a:ext uri="{9D8B030D-6E8A-4147-A177-3AD203B41FA5}">
                      <a16:colId xmlns:a16="http://schemas.microsoft.com/office/drawing/2014/main" val="3092525767"/>
                    </a:ext>
                  </a:extLst>
                </a:gridCol>
              </a:tblGrid>
              <a:tr h="127385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8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时间</a:t>
                      </a:r>
                      <a:endParaRPr lang="zh-CN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8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简称</a:t>
                      </a:r>
                      <a:endParaRPr lang="zh-CN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8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论文标题</a:t>
                      </a:r>
                      <a:endParaRPr lang="zh-CN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8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内容</a:t>
                      </a:r>
                      <a:endParaRPr lang="zh-CN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437" marR="3437" marT="3437" marB="0" anchor="ctr"/>
                </a:tc>
                <a:extLst>
                  <a:ext uri="{0D108BD9-81ED-4DB2-BD59-A6C34878D82A}">
                    <a16:rowId xmlns:a16="http://schemas.microsoft.com/office/drawing/2014/main" val="2010112235"/>
                  </a:ext>
                </a:extLst>
              </a:tr>
              <a:tr h="24537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zh-CN" sz="18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2020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STNet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Integrating spatial gene expression and breast tumour morphology via deep learning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DenseNet121-</a:t>
                      </a:r>
                      <a:r>
                        <a:rPr lang="zh-CN" altLang="en-US" sz="1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全连接层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437" marR="3437" marT="3437" marB="0" anchor="ctr"/>
                </a:tc>
                <a:extLst>
                  <a:ext uri="{0D108BD9-81ED-4DB2-BD59-A6C34878D82A}">
                    <a16:rowId xmlns:a16="http://schemas.microsoft.com/office/drawing/2014/main" val="2171557119"/>
                  </a:ext>
                </a:extLst>
              </a:tr>
              <a:tr h="36634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zh-CN" sz="18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2021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HisToGene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Leveraging information in spatial transcriptomics to predict super-resolution gene expression from histology images in tumors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ViT</a:t>
                      </a:r>
                      <a:r>
                        <a:rPr lang="en-US" sz="1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-MLP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437" marR="3437" marT="3437" marB="0" anchor="ctr"/>
                </a:tc>
                <a:extLst>
                  <a:ext uri="{0D108BD9-81ED-4DB2-BD59-A6C34878D82A}">
                    <a16:rowId xmlns:a16="http://schemas.microsoft.com/office/drawing/2014/main" val="1933042745"/>
                  </a:ext>
                </a:extLst>
              </a:tr>
              <a:tr h="36634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zh-CN" sz="18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2022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Hist2ST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Spatial Transcriptomics Prediction from Histology jointly through Transformer and Graph Neural Networks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Convmixer</a:t>
                      </a:r>
                      <a:r>
                        <a:rPr lang="en-US" sz="1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-Transformer-GNN-ZINB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437" marR="3437" marT="3437" marB="0" anchor="ctr"/>
                </a:tc>
                <a:extLst>
                  <a:ext uri="{0D108BD9-81ED-4DB2-BD59-A6C34878D82A}">
                    <a16:rowId xmlns:a16="http://schemas.microsoft.com/office/drawing/2014/main" val="1559075805"/>
                  </a:ext>
                </a:extLst>
              </a:tr>
              <a:tr h="36634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zh-CN" sz="18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2022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EGN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Exemplar Guided Deep Neural Network for Spatial Transcriptomics Analysis of Gene Expression Prediction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zh-CN" sz="18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ViT+EB</a:t>
                      </a:r>
                      <a:r>
                        <a:rPr lang="zh-CN" altLang="en-US" sz="18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模块（往中间层加入相似</a:t>
                      </a:r>
                      <a:r>
                        <a:rPr lang="en-US" altLang="zh-CN" sz="18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patch</a:t>
                      </a:r>
                      <a:r>
                        <a:rPr lang="zh-CN" altLang="en-US" sz="18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的特征和表达信息）</a:t>
                      </a:r>
                      <a:r>
                        <a:rPr lang="en-US" altLang="zh-CN" sz="18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18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注意力回归头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437" marR="3437" marT="3437" marB="0" anchor="ctr"/>
                </a:tc>
                <a:extLst>
                  <a:ext uri="{0D108BD9-81ED-4DB2-BD59-A6C34878D82A}">
                    <a16:rowId xmlns:a16="http://schemas.microsoft.com/office/drawing/2014/main" val="1900601979"/>
                  </a:ext>
                </a:extLst>
              </a:tr>
              <a:tr h="24537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zh-CN" sz="18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2023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THItoGene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THItoGene: a deep learning method for predicting spatial transcriptomics from histological images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8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动态卷积</a:t>
                      </a:r>
                      <a:r>
                        <a:rPr lang="en-US" altLang="zh-CN" sz="18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en-US" sz="18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capsule network-ViT-GAT-MLP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437" marR="3437" marT="3437" marB="0" anchor="ctr"/>
                </a:tc>
                <a:extLst>
                  <a:ext uri="{0D108BD9-81ED-4DB2-BD59-A6C34878D82A}">
                    <a16:rowId xmlns:a16="http://schemas.microsoft.com/office/drawing/2014/main" val="390138637"/>
                  </a:ext>
                </a:extLst>
              </a:tr>
              <a:tr h="36634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zh-CN" sz="18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2023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BLEEP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Spatially Resolved Gene Expression Prediction from H&amp;E Histology Images via Bi-modal Contrastive Learning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对比学习（</a:t>
                      </a:r>
                      <a:r>
                        <a:rPr lang="en-US" altLang="zh-CN" sz="1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ResNet50</a:t>
                      </a:r>
                      <a:r>
                        <a:rPr lang="zh-CN" altLang="en-US" sz="1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编码图像、</a:t>
                      </a:r>
                      <a:r>
                        <a:rPr lang="en-US" altLang="zh-CN" sz="1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MLP</a:t>
                      </a:r>
                      <a:r>
                        <a:rPr lang="zh-CN" altLang="en-US" sz="1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编码基因），检索相近的表达并线性组合</a:t>
                      </a:r>
                    </a:p>
                  </a:txBody>
                  <a:tcPr marL="3437" marR="3437" marT="3437" marB="0" anchor="ctr"/>
                </a:tc>
                <a:extLst>
                  <a:ext uri="{0D108BD9-81ED-4DB2-BD59-A6C34878D82A}">
                    <a16:rowId xmlns:a16="http://schemas.microsoft.com/office/drawing/2014/main" val="2459720377"/>
                  </a:ext>
                </a:extLst>
              </a:tr>
              <a:tr h="24537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zh-CN" sz="18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2024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mclSTExp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Multimodal contrastive learning for spatial gene expression prediction using histology images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对比学习（</a:t>
                      </a:r>
                      <a:r>
                        <a:rPr lang="en-US" altLang="zh-CN" sz="1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DenseNet121</a:t>
                      </a:r>
                      <a:r>
                        <a:rPr lang="zh-CN" altLang="en-US" sz="1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编码图像、</a:t>
                      </a:r>
                      <a:r>
                        <a:rPr lang="en-US" altLang="zh-CN" sz="1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Transformer</a:t>
                      </a:r>
                      <a:r>
                        <a:rPr lang="zh-CN" altLang="en-US" sz="1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编码基因），检索相近的表达并线性组合</a:t>
                      </a:r>
                    </a:p>
                  </a:txBody>
                  <a:tcPr marL="3437" marR="3437" marT="3437" marB="0" anchor="ctr"/>
                </a:tc>
                <a:extLst>
                  <a:ext uri="{0D108BD9-81ED-4DB2-BD59-A6C34878D82A}">
                    <a16:rowId xmlns:a16="http://schemas.microsoft.com/office/drawing/2014/main" val="3228550066"/>
                  </a:ext>
                </a:extLst>
              </a:tr>
              <a:tr h="24537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OmiCLIP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 visual–omics foundation model to bridge histopathology with spatial transcriptomics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基因转换为句子进行对比学习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437" marR="3437" marT="3437" marB="0" anchor="ctr"/>
                </a:tc>
                <a:extLst>
                  <a:ext uri="{0D108BD9-81ED-4DB2-BD59-A6C34878D82A}">
                    <a16:rowId xmlns:a16="http://schemas.microsoft.com/office/drawing/2014/main" val="1226520113"/>
                  </a:ext>
                </a:extLst>
              </a:tr>
              <a:tr h="24537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FmH2ST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FmH2ST: foundation model-based spatial transcriptomics generation from histological images 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双分支结构：</a:t>
                      </a:r>
                      <a:r>
                        <a:rPr lang="en-US" altLang="zh-CN" sz="180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PathoDuet</a:t>
                      </a:r>
                      <a:r>
                        <a:rPr lang="zh-CN" altLang="en-US" sz="1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PFM</a:t>
                      </a:r>
                      <a:r>
                        <a:rPr lang="zh-CN" altLang="en-US" sz="1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）提取</a:t>
                      </a:r>
                      <a:r>
                        <a:rPr lang="en-US" altLang="zh-CN" sz="1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slice</a:t>
                      </a:r>
                      <a:r>
                        <a:rPr lang="zh-CN" altLang="en-US" sz="1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和</a:t>
                      </a:r>
                      <a:r>
                        <a:rPr lang="en-US" altLang="zh-CN" sz="1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spot</a:t>
                      </a:r>
                      <a:r>
                        <a:rPr lang="zh-CN" altLang="en-US" sz="1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特征</a:t>
                      </a:r>
                      <a:r>
                        <a:rPr lang="en-US" altLang="zh-CN" sz="1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-dual graph</a:t>
                      </a:r>
                      <a:r>
                        <a:rPr lang="zh-CN" altLang="en-US" sz="1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</a:t>
                      </a:r>
                      <a:r>
                        <a:rPr lang="en-US" altLang="zh-CN" sz="180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CNN+ViT-GAT</a:t>
                      </a:r>
                      <a:r>
                        <a:rPr lang="zh-CN" altLang="en-US" sz="1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提取</a:t>
                      </a:r>
                      <a:r>
                        <a:rPr lang="en-US" altLang="zh-CN" sz="1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spot</a:t>
                      </a:r>
                      <a:r>
                        <a:rPr lang="zh-CN" altLang="en-US" sz="1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细粒度特征；两分支注意力融合</a:t>
                      </a:r>
                    </a:p>
                  </a:txBody>
                  <a:tcPr marL="3437" marR="3437" marT="3437" marB="0" anchor="ctr"/>
                </a:tc>
                <a:extLst>
                  <a:ext uri="{0D108BD9-81ED-4DB2-BD59-A6C34878D82A}">
                    <a16:rowId xmlns:a16="http://schemas.microsoft.com/office/drawing/2014/main" val="1319865514"/>
                  </a:ext>
                </a:extLst>
              </a:tr>
              <a:tr h="36634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HistoPrism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HistoPrism</a:t>
                      </a:r>
                      <a:r>
                        <a:rPr lang="en-US" sz="1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: Unlocking Functional Pathway Analysis from Pan-Cancer Histology via Gene Expression Prediction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跨癌种基因表达预测，提出</a:t>
                      </a:r>
                      <a:r>
                        <a:rPr lang="en-US" sz="1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GPC</a:t>
                      </a:r>
                      <a:r>
                        <a:rPr lang="zh-CN" altLang="en-US" sz="1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基准：</a:t>
                      </a:r>
                      <a:r>
                        <a:rPr lang="en-US" altLang="zh-CN" sz="1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UNI</a:t>
                      </a:r>
                      <a:r>
                        <a:rPr lang="zh-CN" altLang="en-US" sz="1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PFM</a:t>
                      </a:r>
                      <a:r>
                        <a:rPr lang="zh-CN" altLang="en-US" sz="1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r>
                        <a:rPr lang="en-US" sz="1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1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跨注意力把癌种条件注入</a:t>
                      </a:r>
                      <a:r>
                        <a:rPr lang="en-US" altLang="zh-CN" sz="1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en-US" sz="1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Transformer-MLP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437" marR="3437" marT="3437" marB="0" anchor="ctr"/>
                </a:tc>
                <a:extLst>
                  <a:ext uri="{0D108BD9-81ED-4DB2-BD59-A6C34878D82A}">
                    <a16:rowId xmlns:a16="http://schemas.microsoft.com/office/drawing/2014/main" val="6473169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6284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9E3EB-C1D8-EB28-3F65-CFB6DC821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3D62A26E-B468-FC23-8A9D-090996AF8B67}"/>
              </a:ext>
            </a:extLst>
          </p:cNvPr>
          <p:cNvSpPr txBox="1"/>
          <p:nvPr/>
        </p:nvSpPr>
        <p:spPr>
          <a:xfrm>
            <a:off x="1028700" y="95741"/>
            <a:ext cx="6438900" cy="11415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640"/>
              </a:lnSpc>
              <a:spcBef>
                <a:spcPct val="0"/>
              </a:spcBef>
            </a:pPr>
            <a:r>
              <a:rPr lang="zh-CN" altLang="en-US" sz="4000" b="1" dirty="0">
                <a:solidFill>
                  <a:srgbClr val="7E93AB"/>
                </a:solidFill>
                <a:latin typeface="微软雅黑" panose="020B0503020204020204" charset="-122"/>
                <a:ea typeface="微软雅黑" panose="020B0503020204020204" charset="-122"/>
              </a:rPr>
              <a:t>预测</a:t>
            </a:r>
            <a:r>
              <a:rPr lang="en-US" altLang="zh-CN" sz="4000" b="1" dirty="0">
                <a:solidFill>
                  <a:srgbClr val="7E93AB"/>
                </a:solidFill>
                <a:latin typeface="微软雅黑" panose="020B0503020204020204" charset="-122"/>
                <a:ea typeface="微软雅黑" panose="020B0503020204020204" charset="-122"/>
              </a:rPr>
              <a:t>Pathway Expression</a:t>
            </a:r>
            <a:endParaRPr lang="en-US" sz="4000" b="1" dirty="0">
              <a:solidFill>
                <a:srgbClr val="7E93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DC57963E-DFFF-FA44-8D5B-BA1EC78E7F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039040"/>
              </p:ext>
            </p:extLst>
          </p:nvPr>
        </p:nvGraphicFramePr>
        <p:xfrm>
          <a:off x="1085850" y="2247900"/>
          <a:ext cx="16116300" cy="3429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11630">
                  <a:extLst>
                    <a:ext uri="{9D8B030D-6E8A-4147-A177-3AD203B41FA5}">
                      <a16:colId xmlns:a16="http://schemas.microsoft.com/office/drawing/2014/main" val="3021976558"/>
                    </a:ext>
                  </a:extLst>
                </a:gridCol>
                <a:gridCol w="2139268">
                  <a:extLst>
                    <a:ext uri="{9D8B030D-6E8A-4147-A177-3AD203B41FA5}">
                      <a16:colId xmlns:a16="http://schemas.microsoft.com/office/drawing/2014/main" val="1501275940"/>
                    </a:ext>
                  </a:extLst>
                </a:gridCol>
                <a:gridCol w="4522614">
                  <a:extLst>
                    <a:ext uri="{9D8B030D-6E8A-4147-A177-3AD203B41FA5}">
                      <a16:colId xmlns:a16="http://schemas.microsoft.com/office/drawing/2014/main" val="27684142"/>
                    </a:ext>
                  </a:extLst>
                </a:gridCol>
                <a:gridCol w="7842788">
                  <a:extLst>
                    <a:ext uri="{9D8B030D-6E8A-4147-A177-3AD203B41FA5}">
                      <a16:colId xmlns:a16="http://schemas.microsoft.com/office/drawing/2014/main" val="4064205460"/>
                    </a:ext>
                  </a:extLst>
                </a:gridCol>
              </a:tblGrid>
              <a:tr h="31420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8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时间</a:t>
                      </a:r>
                      <a:endParaRPr lang="zh-CN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8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简称</a:t>
                      </a:r>
                      <a:endParaRPr lang="zh-CN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8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论文标题</a:t>
                      </a:r>
                      <a:endParaRPr lang="zh-CN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8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内容</a:t>
                      </a:r>
                      <a:endParaRPr lang="zh-CN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437" marR="3437" marT="3437" marB="0" anchor="ctr"/>
                </a:tc>
                <a:extLst>
                  <a:ext uri="{0D108BD9-81ED-4DB2-BD59-A6C34878D82A}">
                    <a16:rowId xmlns:a16="http://schemas.microsoft.com/office/drawing/2014/main" val="1408660630"/>
                  </a:ext>
                </a:extLst>
              </a:tr>
              <a:tr h="124514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PEaRL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PEaRL: Pathway-Enhanced Representation Learning for Gene and Pathway Expression Prediction from Histology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8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对比学习：</a:t>
                      </a:r>
                      <a:r>
                        <a:rPr lang="en-US" altLang="zh-CN" sz="18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UNI</a:t>
                      </a:r>
                      <a:r>
                        <a:rPr lang="zh-CN" altLang="en-US" sz="18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编码图像；</a:t>
                      </a:r>
                      <a:r>
                        <a:rPr lang="en-US" altLang="zh-CN" sz="18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transformer</a:t>
                      </a:r>
                      <a:r>
                        <a:rPr lang="zh-CN" altLang="en-US" sz="18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编码</a:t>
                      </a:r>
                      <a:r>
                        <a:rPr lang="en-US" altLang="zh-CN" sz="18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pathway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437" marR="3437" marT="3437" marB="0" anchor="ctr"/>
                </a:tc>
                <a:extLst>
                  <a:ext uri="{0D108BD9-81ED-4DB2-BD59-A6C34878D82A}">
                    <a16:rowId xmlns:a16="http://schemas.microsoft.com/office/drawing/2014/main" val="2500033775"/>
                  </a:ext>
                </a:extLst>
              </a:tr>
              <a:tr h="93482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zh-CN" sz="1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zh-CN" alt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Digital Modeling of Spatial Pathway Activity from Histology Reveals Tumor Microenvironment Heterogeneity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UNI2-h（</a:t>
                      </a:r>
                      <a:r>
                        <a:rPr lang="en-US" altLang="zh-CN" sz="1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</a:t>
                      </a:r>
                      <a:r>
                        <a:rPr lang="en-US" sz="1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FM）-</a:t>
                      </a:r>
                      <a:r>
                        <a:rPr lang="en-US" sz="180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RidgeCV</a:t>
                      </a:r>
                      <a:r>
                        <a:rPr lang="en-US" sz="1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随机森林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437" marR="3437" marT="3437" marB="0" anchor="ctr"/>
                </a:tc>
                <a:extLst>
                  <a:ext uri="{0D108BD9-81ED-4DB2-BD59-A6C34878D82A}">
                    <a16:rowId xmlns:a16="http://schemas.microsoft.com/office/drawing/2014/main" val="3895370920"/>
                  </a:ext>
                </a:extLst>
              </a:tr>
              <a:tr h="93482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zh-CN" sz="18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DeepPathway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DeepPathway</a:t>
                      </a:r>
                      <a:r>
                        <a:rPr lang="en-US" sz="1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: Predicting Pathway Expression from Histopathology Images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对比学习：</a:t>
                      </a:r>
                      <a:r>
                        <a:rPr lang="en-US" altLang="zh-CN" sz="1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ResNet18+H-optimus-0</a:t>
                      </a:r>
                      <a:r>
                        <a:rPr lang="zh-CN" altLang="en-US" sz="1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PFM</a:t>
                      </a:r>
                      <a:r>
                        <a:rPr lang="zh-CN" altLang="en-US" sz="1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）编码图像；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437" marR="3437" marT="3437" marB="0" anchor="ctr"/>
                </a:tc>
                <a:extLst>
                  <a:ext uri="{0D108BD9-81ED-4DB2-BD59-A6C34878D82A}">
                    <a16:rowId xmlns:a16="http://schemas.microsoft.com/office/drawing/2014/main" val="2092224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566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2E0B7-A64A-4994-94C4-8982A07AE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6DE8D0A1-C744-44F0-834A-D49FF2927925}"/>
              </a:ext>
            </a:extLst>
          </p:cNvPr>
          <p:cNvSpPr txBox="1"/>
          <p:nvPr/>
        </p:nvSpPr>
        <p:spPr>
          <a:xfrm>
            <a:off x="1028700" y="95741"/>
            <a:ext cx="5753100" cy="1166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640"/>
              </a:lnSpc>
              <a:spcBef>
                <a:spcPct val="0"/>
              </a:spcBef>
            </a:pPr>
            <a:r>
              <a:rPr lang="zh-CN" altLang="en-US" sz="4000" b="1" dirty="0">
                <a:solidFill>
                  <a:srgbClr val="7E93AB"/>
                </a:solidFill>
                <a:latin typeface="微软雅黑" panose="020B0503020204020204" charset="-122"/>
                <a:ea typeface="微软雅黑" panose="020B0503020204020204" charset="-122"/>
              </a:rPr>
              <a:t>实现与评估指标</a:t>
            </a:r>
            <a:endParaRPr lang="en-US" sz="4000" b="1" dirty="0">
              <a:solidFill>
                <a:srgbClr val="7E93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58DDCCD-12C1-D915-F9D9-C26CA9B68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866900"/>
            <a:ext cx="16166981" cy="716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464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B1218-8BA7-6A72-4999-7DA629597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A234D354-090F-96CA-647B-74C3B99F6116}"/>
              </a:ext>
            </a:extLst>
          </p:cNvPr>
          <p:cNvSpPr txBox="1"/>
          <p:nvPr/>
        </p:nvSpPr>
        <p:spPr>
          <a:xfrm>
            <a:off x="1028700" y="95741"/>
            <a:ext cx="5753100" cy="1166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640"/>
              </a:lnSpc>
              <a:spcBef>
                <a:spcPct val="0"/>
              </a:spcBef>
            </a:pPr>
            <a:r>
              <a:rPr lang="zh-CN" altLang="en-US" sz="4000" b="1" dirty="0">
                <a:solidFill>
                  <a:srgbClr val="7E93AB"/>
                </a:solidFill>
                <a:latin typeface="微软雅黑" panose="020B0503020204020204" charset="-122"/>
                <a:ea typeface="微软雅黑" panose="020B0503020204020204" charset="-122"/>
              </a:rPr>
              <a:t>实现与评估指标</a:t>
            </a:r>
            <a:endParaRPr lang="en-US" sz="4000" b="1" dirty="0">
              <a:solidFill>
                <a:srgbClr val="7E93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1A2AA17-CC8D-003F-5E6A-1DC9755DF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85900"/>
            <a:ext cx="7880822" cy="5638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4975D5-46AF-8276-1044-9FF7F387DFD1}"/>
              </a:ext>
            </a:extLst>
          </p:cNvPr>
          <p:cNvSpPr txBox="1"/>
          <p:nvPr/>
        </p:nvSpPr>
        <p:spPr>
          <a:xfrm>
            <a:off x="9601200" y="2400300"/>
            <a:ext cx="6477000" cy="50592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均方误差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MSE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衡量预测值与真实值之间的数值差异，对大误差敏感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just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平均绝对误差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MAE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对异常值更具鲁棒性，可提供平均误差的平衡估计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just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Pearson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相关系数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PCC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衡量预测表达与真实表达之间的线性相关性，判断模型是否能够捕捉基因表达空间趋势</a:t>
            </a:r>
          </a:p>
        </p:txBody>
      </p:sp>
    </p:spTree>
    <p:extLst>
      <p:ext uri="{BB962C8B-B14F-4D97-AF65-F5344CB8AC3E}">
        <p14:creationId xmlns:p14="http://schemas.microsoft.com/office/powerpoint/2010/main" val="848971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8218</TotalTime>
  <Words>522</Words>
  <Application>Microsoft Office PowerPoint</Application>
  <PresentationFormat>自定义</PresentationFormat>
  <Paragraphs>76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微软雅黑</vt:lpstr>
      <vt:lpstr>等线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灰蓝色商务简洁几何图形公司项目矢量企业宣传中文演示文稿</dc:title>
  <dc:creator/>
  <cp:lastModifiedBy>子 于</cp:lastModifiedBy>
  <cp:revision>906</cp:revision>
  <dcterms:created xsi:type="dcterms:W3CDTF">2022-05-11T12:57:42Z</dcterms:created>
  <dcterms:modified xsi:type="dcterms:W3CDTF">2026-03-21T17:30:52Z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E05135AE89D04273BC691D0F60878912</vt:lpwstr>
  </property>
  <property fmtid="{D5CDD505-2E9C-101B-9397-08002B2CF9AE}" pid="3" name="KSOProductBuildVer">
    <vt:lpwstr>2052-3.9.6.6441</vt:lpwstr>
  </property>
</Properties>
</file>